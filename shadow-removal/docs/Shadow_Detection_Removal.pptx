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62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50808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69A29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 PROJECT  ·  IMAGE PROCESSING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Shadow Detection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Removal in Outdoor Images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Color Space Analysis and Image Inpainting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2011680" cy="0"/>
          </a:xfrm>
          <a:prstGeom prst="line">
            <a:avLst/>
          </a:prstGeom>
          <a:noFill/>
          <a:ln w="25400">
            <a:solidFill>
              <a:srgbClr val="84B5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577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Artificial Intelligence &amp; Data Science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Institute of Technology, Pune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Shadows quietly break computer vision pipelines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0432" y="2057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&amp; Tracking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242316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 are misread as extra objects or merge with real ones, hurting bounding-box accuracy.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210312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1112" y="2057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1112" y="242316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and robotics systems can mistake a hard shadow edge for an obstacle or lane boundary.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39319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&amp; ANPR Systems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429768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outdoor shadows reduce contrast on license plates, faces, and text regions, cutting recognition accuracy.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97764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11112" y="39319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11112" y="429768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boundaries are frequently misclassified as object boundaries, corrupting segmentation masks.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172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detect and remove shadows automatically — without deep learning, without a GPU — using only classical color-space analysis.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shadow regions in a single outdoor RGB image using LAB &amp; YCbCr color space analysis — no training data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632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306324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detected shadows via illumination correction (relighting) that preserves underlying surface texture.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605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416052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the recovered region seamlessly using boundary-aware image inpainting.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2578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52578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detection (IoU, F1) and removal (RMSE, SSIM) quality against the ISTD benchmark dataset.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color-space analysis vs. deep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40280" y="169164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E9EDEC"/>
          </a:solidFill>
          <a:ln/>
        </p:spPr>
      </p:sp>
      <p:sp>
        <p:nvSpPr>
          <p:cNvPr id="5" name="Text 3"/>
          <p:cNvSpPr/>
          <p:nvPr/>
        </p:nvSpPr>
        <p:spPr>
          <a:xfrm>
            <a:off x="2240280" y="16916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 / GAN)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60920" y="169164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50808E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16916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Space Analysis (this project)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40280" y="2423160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F7F8F7"/>
          </a:solidFill>
          <a:ln w="9525">
            <a:solidFill>
              <a:srgbClr val="DC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42316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paired shadow/shadow-free images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2423160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E9F2EF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42316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works on a single image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145536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40280" y="3191256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F7F8F7"/>
          </a:solidFill>
          <a:ln w="9525">
            <a:solidFill>
              <a:srgbClr val="DCE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319125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strongly recommended for training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60920" y="3191256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E9F2EF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319125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CPU, runs in milliseconds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913632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40280" y="3959352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F7F8F7"/>
          </a:solidFill>
          <a:ln w="9525">
            <a:solidFill>
              <a:srgbClr val="DCE3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95935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decisions, hard to debug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3959352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E9F2EF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395935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is a readable, tunable formula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681728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40280" y="4727448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F7F8F7"/>
          </a:solidFill>
          <a:ln w="9525">
            <a:solidFill>
              <a:srgbClr val="DCE3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72744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+ training pipeline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60920" y="4727448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E9F2EF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472744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a few color-space formulas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44982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40280" y="5495544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F7F8F7"/>
          </a:solidFill>
          <a:ln w="9525">
            <a:solidFill>
              <a:srgbClr val="DCE3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549554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production accuracy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60920" y="5495544"/>
            <a:ext cx="4709160" cy="621792"/>
          </a:xfrm>
          <a:prstGeom prst="roundRect">
            <a:avLst>
              <a:gd name="adj" fmla="val 7353"/>
            </a:avLst>
          </a:prstGeom>
          <a:solidFill>
            <a:srgbClr val="E9F2EF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549554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CP-scale project with a tight timeline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8076" y="23774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50808E"/>
          </a:solidFill>
          <a:ln/>
        </p:spPr>
      </p:sp>
      <p:sp>
        <p:nvSpPr>
          <p:cNvPr id="5" name="Text 3"/>
          <p:cNvSpPr/>
          <p:nvPr/>
        </p:nvSpPr>
        <p:spPr>
          <a:xfrm>
            <a:off x="681228" y="24871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1228" y="29992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RGB photo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99716" y="27660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4308" y="23774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50808E"/>
          </a:solidFill>
          <a:ln/>
        </p:spPr>
      </p:sp>
      <p:sp>
        <p:nvSpPr>
          <p:cNvPr id="9" name="Text 7"/>
          <p:cNvSpPr/>
          <p:nvPr/>
        </p:nvSpPr>
        <p:spPr>
          <a:xfrm>
            <a:off x="2537460" y="24871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/ YCbCr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37460" y="29992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space transform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948" y="27660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0540" y="23774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50808E"/>
          </a:solidFill>
          <a:ln/>
        </p:spPr>
      </p:sp>
      <p:sp>
        <p:nvSpPr>
          <p:cNvPr id="13" name="Text 11"/>
          <p:cNvSpPr/>
          <p:nvPr/>
        </p:nvSpPr>
        <p:spPr>
          <a:xfrm>
            <a:off x="4393692" y="24871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93692" y="29992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L, A, B statistics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12180" y="27660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6772" y="23774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50808E"/>
          </a:solidFill>
          <a:ln/>
        </p:spPr>
      </p:sp>
      <p:sp>
        <p:nvSpPr>
          <p:cNvPr id="17" name="Text 15"/>
          <p:cNvSpPr/>
          <p:nvPr/>
        </p:nvSpPr>
        <p:spPr>
          <a:xfrm>
            <a:off x="6249924" y="24871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Cleanup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9924" y="29992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+ largest-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filtering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8412" y="27660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33004" y="23774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69A297"/>
          </a:solidFill>
          <a:ln/>
        </p:spPr>
      </p:sp>
      <p:sp>
        <p:nvSpPr>
          <p:cNvPr id="21" name="Text 19"/>
          <p:cNvSpPr/>
          <p:nvPr/>
        </p:nvSpPr>
        <p:spPr>
          <a:xfrm>
            <a:off x="8106156" y="24871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Relighting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06156" y="29992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channel-wise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24644" y="27660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89236" y="23774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69A297"/>
          </a:solidFill>
          <a:ln/>
        </p:spPr>
      </p:sp>
      <p:sp>
        <p:nvSpPr>
          <p:cNvPr id="25" name="Text 23"/>
          <p:cNvSpPr/>
          <p:nvPr/>
        </p:nvSpPr>
        <p:spPr>
          <a:xfrm>
            <a:off x="9962388" y="24871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62388" y="29992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Telea inpainting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seam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0" y="416052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50808E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416052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69A297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Stage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shadow-free image, saved alongside the mask and overlay for inspection.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detection via LAB color space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Murali &amp; Govindan's LAB-space method: shadows lower Lightness (L) while keeping chromaticity (a, b) roughly stable — unlike dark objects, which affect all channels.</a:t>
            </a:r>
            <a:endParaRPr lang="en-US" sz="1250" dirty="0"/>
          </a:p>
        </p:txBody>
      </p:sp>
      <p:pic>
        <p:nvPicPr>
          <p:cNvPr id="5" name="Image 0" descr="/home/claude/pptx_work/assets/detection_st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11064240" cy="2761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3F1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07492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colorfulness ≤ 15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threshold on L alone   →  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threshold on combined (L + A + B)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C4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= mean − (std / 3)</a:t>
            </a:r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5A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+  connected-component filtering to drop texture noise (grass, gravel, concrete grain)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REMOVAL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Removal via relighting + boundary inpainting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EEF3F1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 ring of lit pixels just outside the shadow boundary as the relighting target.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50808E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Channel-wise Relighting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2004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LAB channel, rescale shadow pixels: (value − mean_shadow) × (std_lit / std_shadow) + mean_lit.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EEF3F1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965960"/>
            <a:ext cx="548640" cy="54864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651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Inpainting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2004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Telea inpainting on a thin band around the shadow edge (cv2.inpaint) to blend the seam.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relighting before inpainting? Blind inpainting invents texture and loses realism; relighting keeps the original surface detail and only corrects illumination.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libraries &amp;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73152" cy="1463040"/>
          </a:xfrm>
          <a:prstGeom prst="rect">
            <a:avLst/>
          </a:prstGeom>
          <a:solidFill>
            <a:srgbClr val="1E343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39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874520"/>
            <a:ext cx="73152" cy="1463040"/>
          </a:xfrm>
          <a:prstGeom prst="rect">
            <a:avLst/>
          </a:prstGeom>
          <a:solidFill>
            <a:srgbClr val="1E343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39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space conversion, morphology, inpainting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874520"/>
            <a:ext cx="73152" cy="1463040"/>
          </a:xfrm>
          <a:prstGeom prst="rect">
            <a:avLst/>
          </a:prstGeom>
          <a:solidFill>
            <a:srgbClr val="1E3438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0391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468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 &amp; statistics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11880"/>
            <a:ext cx="73152" cy="1463040"/>
          </a:xfrm>
          <a:prstGeom prst="rect">
            <a:avLst/>
          </a:prstGeom>
          <a:solidFill>
            <a:srgbClr val="1E343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764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metric for evaluation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6118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3611880"/>
            <a:ext cx="73152" cy="1463040"/>
          </a:xfrm>
          <a:prstGeom prst="rect">
            <a:avLst/>
          </a:prstGeom>
          <a:solidFill>
            <a:srgbClr val="1E343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7764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ISTD Dataset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206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1,330 train / 540 test shadow, mask, shadow-free triplets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6118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611880"/>
            <a:ext cx="73152" cy="1463040"/>
          </a:xfrm>
          <a:prstGeom prst="rect">
            <a:avLst/>
          </a:prstGeom>
          <a:solidFill>
            <a:srgbClr val="1E3438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7764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Design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206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(pipeline) + evaluate.py (benchmarking)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outdoor test images — before &amp; after</a:t>
            </a:r>
            <a:endParaRPr lang="en-US" sz="2700" dirty="0"/>
          </a:p>
        </p:txBody>
      </p:sp>
      <p:pic>
        <p:nvPicPr>
          <p:cNvPr id="4" name="Image 0" descr="/home/claude/pptx_work/assets/result1_person_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486400" cy="2057400"/>
          </a:xfrm>
          <a:prstGeom prst="rect">
            <a:avLst/>
          </a:prstGeom>
        </p:spPr>
      </p:pic>
      <p:pic>
        <p:nvPicPr>
          <p:cNvPr id="5" name="Image 1" descr="/home/claude/pptx_work/assets/result2_gr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08760"/>
            <a:ext cx="5486400" cy="2057400"/>
          </a:xfrm>
          <a:prstGeom prst="rect">
            <a:avLst/>
          </a:prstGeom>
        </p:spPr>
      </p:pic>
      <p:pic>
        <p:nvPicPr>
          <p:cNvPr id="6" name="Image 2" descr="/home/claude/pptx_work/assets/result3_person_road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5486400" cy="2057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172200" y="379476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1E3438"/>
          </a:solidFill>
          <a:ln/>
        </p:spPr>
      </p:sp>
      <p:sp>
        <p:nvSpPr>
          <p:cNvPr id="8" name="Text 3"/>
          <p:cNvSpPr/>
          <p:nvPr/>
        </p:nvSpPr>
        <p:spPr>
          <a:xfrm>
            <a:off x="6492240" y="40233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relighting removes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shadow edge and restores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tone, while keeping the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texture (grain, blades,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cracks) intact.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49224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+ road   ·   Grass patch   ·   Person + road (2)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a false-positive speckle bug</a:t>
            </a:r>
            <a:endParaRPr lang="en-US" sz="2700" dirty="0"/>
          </a:p>
        </p:txBody>
      </p:sp>
      <p:pic>
        <p:nvPicPr>
          <p:cNvPr id="4" name="Image 0" descr="/home/claude/pptx_work/assets/bug_fix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752" y="2331720"/>
            <a:ext cx="7013448" cy="2633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textured surfaces (grass blades, concrete grain) triggered dozens of tiny false-positive "shadow" blobs, each individually relit and inpainted → visible speckling across the whole image.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5120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shadow is almost always one dominant region. Added a relative-size filter — keep a component only if it's ≥15% the size of the largest detected blob — dropping scattered texture noise.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92440" y="51206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50808E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51206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scattered components → 1 clean region on the test image.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 against ISTD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runs the full pipeline over the ISTD test split and scores it against ground-truth masks and shadow-free images.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358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between predicted and ground-truth shadow mask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514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30358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3375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 balance of shadow-pixel classification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514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(LAB)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30358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33375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error vs. ground-truth shadow-free image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E3438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514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SSIM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35440" y="30358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35440" y="33375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similarity of the recovered region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6262A"/>
          </a:solidFill>
          <a:ln w="12700">
            <a:solidFill>
              <a:srgbClr val="69A2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091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ISTD test-set evaluation (540 images) in progress on local machine after the detection fix.
</a:t>
            </a:r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9FB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to insert here once evaluate.py finishes: </a:t>
            </a:r>
            <a:pPr indent="0" marL="0">
              <a:lnSpc>
                <a:spcPct val="135000"/>
              </a:lnSpc>
              <a:buNone/>
            </a:pPr>
            <a:r>
              <a:rPr lang="en-US" sz="1150" b="1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___, F1 = ___, RMSE = ___, SSIM = ___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EEF3F1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dependency-free, training-free shadow detector using LAB/YCbCr color statistics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removal pipeline: channel-wise relighting + boundary inpainting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robustness fix for textured outdoor surfaces (grass, concrete)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 pipeline + evaluation script benchmarked on the ISTD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50808E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 classical detection + lightweight CNN refinement for hard/soft shadow edges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shadow removal in video (temporal consistency across frames)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mobile/web app for on-device photo correction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SRD dataset for broader generalization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50808E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Murali, S., Govindan, V.K. — "Shadow Detection and Removal from a Single Image Using LAB Color Space," Cybernetics and Information Technologies, 2013.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J., Li, X., Yang, J. — "Stacked Conditional GAN for Shadow Detection and Removal" (ISTD dataset), CVPR 2018.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Telea, A. — "An Image Inpainting Technique Based on the Fast Marching Method," 2004.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3D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Documentation — cv2.inpaint, color space conversions.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 ·  AI &amp; Data Science  ·  Vishwakarma Institute of Technology, Pune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2026-08-20T18:32:29Z</dcterms:created>
  <dcterms:modified xsi:type="dcterms:W3CDTF">2026-08-20T18:32:29Z</dcterms:modified>
</cp:coreProperties>
</file>